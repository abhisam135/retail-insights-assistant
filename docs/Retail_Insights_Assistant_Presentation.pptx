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3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Retail Insights Assistant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1371600" y="31927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None/>
            </a:pPr>
            <a:r>
              <a:rPr lang="en-IN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GenAI + Scalable Data System</a:t>
            </a:r>
            <a:endParaRPr sz="3000"/>
          </a:p>
        </p:txBody>
      </p:sp>
      <p:sp>
        <p:nvSpPr>
          <p:cNvPr id="88" name="Google Shape;88;p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457200" y="640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457200" y="19202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683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Retail organizations manage large-scale sales data across regions, products &amp; time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Business users need conversational analytics instead of SQL dependency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Executives require automated, concise performance summaries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System must scale beyond 100GB historical data</a:t>
            </a:r>
            <a:endParaRPr sz="2400"/>
          </a:p>
        </p:txBody>
      </p:sp>
      <p:sp>
        <p:nvSpPr>
          <p:cNvPr id="101" name="Google Shape;101;p1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Functional Scope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457200" y="1737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683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Accepts: CSV dataset OR summarized report (Excel / JSON / Text)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Summarization Mode → Executive performance summary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Conversational Q&amp;A Mode → Natural language business queries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Multi-agent orchestration for reliability &amp; safety</a:t>
            </a:r>
            <a:endParaRPr sz="2400"/>
          </a:p>
        </p:txBody>
      </p:sp>
      <p:sp>
        <p:nvSpPr>
          <p:cNvPr id="114" name="Google Shape;114;p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683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GenAI-Powered Retail Intelligence Assistant</a:t>
            </a:r>
            <a:endParaRPr sz="2400"/>
          </a:p>
          <a:p>
            <a:pPr marL="342900" lvl="0" indent="-36830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Dual Modes: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Font typeface="Calibri"/>
              <a:buChar char="-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Executive Summarization Mode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Font typeface="Calibri"/>
              <a:buChar char="-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Conversational Q&amp;A Mode</a:t>
            </a:r>
            <a:endParaRPr sz="24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Multi-Agent Orchestration (LangGraph)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Deterministic SQL layer (DuckDB)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LLM-driven insight generation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Schema-aware &amp; dataset-agnostic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Streamlit UI for business users</a:t>
            </a:r>
            <a:endParaRPr sz="2400"/>
          </a:p>
        </p:txBody>
      </p:sp>
      <p:sp>
        <p:nvSpPr>
          <p:cNvPr id="127" name="Google Shape;127;p1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0" y="0"/>
            <a:ext cx="9144000" cy="72492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Multi-Agent Architecture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0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77825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Char char="•"/>
            </a:pPr>
            <a:r>
              <a:rPr lang="en-IN" sz="18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Layer 1 – Data Ingestion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CSV / Excel / JSON / Text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Dynamic schema normalization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Safe preprocessing</a:t>
            </a:r>
            <a:endParaRPr sz="1800"/>
          </a:p>
          <a:p>
            <a:pPr marL="342900" lvl="0" indent="-377825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1800"/>
              <a:buChar char="•"/>
            </a:pPr>
            <a:r>
              <a:rPr lang="en-IN" sz="18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Layer 2 – Analytics Engine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DuckDB in-memory analytical layer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SQL execution &amp; validation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Structured computation in Python</a:t>
            </a:r>
            <a:endParaRPr sz="1800"/>
          </a:p>
          <a:p>
            <a:pPr marL="342900" lvl="0" indent="-377825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1800"/>
              <a:buChar char="•"/>
            </a:pPr>
            <a:r>
              <a:rPr lang="en-IN" sz="18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Layer 3 – Intelligence Layer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SQL Generation Agent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Validation Agent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Execution Agent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Insight Agent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Summary Agent</a:t>
            </a:r>
            <a:endParaRPr sz="1800"/>
          </a:p>
          <a:p>
            <a:pPr marL="342900" lvl="0" indent="-377825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1800"/>
              <a:buChar char="•"/>
            </a:pPr>
            <a:r>
              <a:rPr lang="en-IN" sz="18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Layer 4 – UI Layer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Interactive Streamlit dashboard</a:t>
            </a:r>
            <a:br>
              <a:rPr lang="en-IN" sz="1800"/>
            </a:br>
            <a:r>
              <a:rPr lang="en-IN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Real-time query responses</a:t>
            </a:r>
            <a:endParaRPr sz="180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1800"/>
          </a:p>
        </p:txBody>
      </p:sp>
      <p:sp>
        <p:nvSpPr>
          <p:cNvPr id="140" name="Google Shape;140;p1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0" y="0"/>
            <a:ext cx="9731340" cy="686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User Question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▼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[Intent Router Node]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├── If Summarization Mode ───────────────┐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│                                         ▼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│                               [Summary Agent]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│                                         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▼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│                                  Executive Summary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└── If Q&amp;A Mode ──────────────────────────┐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▼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[SQL Generation Agent]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▼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[SQL Validation Agent]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▼</a:t>
            </a:r>
            <a:endParaRPr dirty="0"/>
          </a:p>
          <a:p>
            <a:pPr lvl="0"/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[Execution Agent]           [Insight Agent]               Final Answer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</a:t>
            </a:r>
            <a:endParaRPr dirty="0"/>
          </a:p>
        </p:txBody>
      </p:sp>
      <p:cxnSp>
        <p:nvCxnSpPr>
          <p:cNvPr id="152" name="Google Shape;152;p18"/>
          <p:cNvCxnSpPr/>
          <p:nvPr/>
        </p:nvCxnSpPr>
        <p:spPr>
          <a:xfrm>
            <a:off x="4225165" y="6285335"/>
            <a:ext cx="32446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53" name="Google Shape;153;p18"/>
          <p:cNvSpPr/>
          <p:nvPr/>
        </p:nvSpPr>
        <p:spPr>
          <a:xfrm rot="5400000">
            <a:off x="4544712" y="6194387"/>
            <a:ext cx="191732" cy="181896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8284655" y="116904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699630" y="619824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152;p18">
            <a:extLst>
              <a:ext uri="{FF2B5EF4-FFF2-40B4-BE49-F238E27FC236}">
                <a16:creationId xmlns:a16="http://schemas.microsoft.com/office/drawing/2014/main" id="{F7288CC4-199C-03D9-1FB7-2FB2ED5D0144}"/>
              </a:ext>
            </a:extLst>
          </p:cNvPr>
          <p:cNvCxnSpPr/>
          <p:nvPr/>
        </p:nvCxnSpPr>
        <p:spPr>
          <a:xfrm>
            <a:off x="6425505" y="6285335"/>
            <a:ext cx="32446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" name="Google Shape;153;p18">
            <a:extLst>
              <a:ext uri="{FF2B5EF4-FFF2-40B4-BE49-F238E27FC236}">
                <a16:creationId xmlns:a16="http://schemas.microsoft.com/office/drawing/2014/main" id="{A1905254-9C5A-E706-0887-15404D6D179E}"/>
              </a:ext>
            </a:extLst>
          </p:cNvPr>
          <p:cNvSpPr/>
          <p:nvPr/>
        </p:nvSpPr>
        <p:spPr>
          <a:xfrm rot="5400000">
            <a:off x="6722827" y="6194387"/>
            <a:ext cx="191732" cy="181896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Summarization Mode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Font typeface="Calibri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Deterministic Metrics + Generative Insights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Font typeface="Calibri"/>
              <a:buChar char="•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Numeric metrics computed via Python (no hallucination risk)</a:t>
            </a:r>
            <a:br>
              <a:rPr lang="en-IN" sz="2400"/>
            </a:br>
            <a:r>
              <a:rPr lang="en-IN" sz="2400"/>
              <a:t>   - </a:t>
            </a: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Auto-detection of revenue, region, time columns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</a:rPr>
              <a:t>   - </a:t>
            </a: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Year-over-Year growth analysis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</a:rPr>
              <a:t>   - </a:t>
            </a: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Category &amp; regional performance trends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</a:rPr>
              <a:t>   - </a:t>
            </a: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Structured metrics → LLM → Executive narrative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Font typeface="Calibri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Design Principle: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LLM interprets — Python calculates.</a:t>
            </a:r>
            <a:endParaRPr sz="2400"/>
          </a:p>
        </p:txBody>
      </p:sp>
      <p:sp>
        <p:nvSpPr>
          <p:cNvPr id="167" name="Google Shape;167;p1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Q&amp;A Mode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57200" y="1737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Font typeface="Calibri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Conversational Business Intelligence via Multi-Agent Pipeline</a:t>
            </a:r>
            <a:endParaRPr sz="2400"/>
          </a:p>
          <a:p>
            <a:pPr marL="342900" lvl="0" indent="0" algn="l" rtl="0">
              <a:spcBef>
                <a:spcPts val="592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Agent 1 – Language → SQL Generation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Agent 2 – SQL Safety &amp; Validation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Agent 3 – DuckDB Execution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Agent 4 – Business Insight Generation</a:t>
            </a:r>
            <a:endParaRPr sz="2400"/>
          </a:p>
          <a:p>
            <a:pPr marL="0" lvl="0" indent="0" algn="l" rtl="0">
              <a:spcBef>
                <a:spcPts val="592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Schema injected dynamically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Prevents column hallucination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SELECT-only enforcement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Deterministic execution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Business-friendly answer transformation</a:t>
            </a:r>
            <a:endParaRPr sz="2400"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/>
          </a:p>
        </p:txBody>
      </p:sp>
      <p:sp>
        <p:nvSpPr>
          <p:cNvPr id="180" name="Google Shape;180;p2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100GB+ Scalability Architecture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2" name="Google Shape;192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735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Cold Storage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S3 / Azure Data Lake / GCS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Partitioned Parquet (Year / Region / Category)</a:t>
            </a:r>
            <a:endParaRPr sz="2400"/>
          </a:p>
          <a:p>
            <a:pPr marL="342900" lvl="0" indent="-387350" algn="l" rtl="0">
              <a:spcBef>
                <a:spcPts val="544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Processing Layer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Spark / Databricks batch processing</a:t>
            </a:r>
            <a:endParaRPr sz="2400"/>
          </a:p>
          <a:p>
            <a:pPr marL="342900" lvl="0" indent="-387350" algn="l" rtl="0">
              <a:spcBef>
                <a:spcPts val="544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Warehouse Layer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Snowflake / BigQuery / Redshift</a:t>
            </a:r>
            <a:endParaRPr sz="2400"/>
          </a:p>
          <a:p>
            <a:pPr marL="342900" lvl="0" indent="-387350" algn="l" rtl="0">
              <a:spcBef>
                <a:spcPts val="544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Interactive Layer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DuckDB for local analytical subsets</a:t>
            </a:r>
            <a:endParaRPr sz="2400"/>
          </a:p>
          <a:p>
            <a:pPr marL="342900" lvl="0" indent="-387350" algn="l" rtl="0">
              <a:spcBef>
                <a:spcPts val="544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Hybrid Retrieval Strategy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SQL for structured queries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Vector DB + RAG for document insights</a:t>
            </a:r>
            <a:endParaRPr sz="2400"/>
          </a:p>
        </p:txBody>
      </p:sp>
      <p:sp>
        <p:nvSpPr>
          <p:cNvPr id="193" name="Google Shape;193;p2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Model Orchestration at Scale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5" name="Google Shape;205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683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Prompt templates &amp; reusable chains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Caching frequent queries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Token usage monitoring &amp; cost tracking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Retry &amp; fallback mechanisms</a:t>
            </a:r>
            <a:endParaRPr sz="2400"/>
          </a:p>
          <a:p>
            <a:pPr marL="742950" lvl="1" indent="-3111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400"/>
              <a:buChar char="–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Latency optimization</a:t>
            </a:r>
            <a:endParaRPr sz="2400"/>
          </a:p>
        </p:txBody>
      </p:sp>
      <p:sp>
        <p:nvSpPr>
          <p:cNvPr id="206" name="Google Shape;206;p2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Monitoring &amp; Evaluation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18" name="Google Shape;218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683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 b="1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Observability &amp; Responsible AI Controls</a:t>
            </a:r>
            <a:endParaRPr sz="2400"/>
          </a:p>
          <a:p>
            <a:pPr marL="342900" lvl="0" indent="-368300" algn="l" rtl="0">
              <a:spcBef>
                <a:spcPts val="640"/>
              </a:spcBef>
              <a:spcAft>
                <a:spcPts val="0"/>
              </a:spcAft>
              <a:buClr>
                <a:srgbClr val="1E1E1E"/>
              </a:buClr>
              <a:buSzPts val="2400"/>
              <a:buChar char="•"/>
            </a:pP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SQL success rate tracking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Token usage monitoring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Cost-per-query measurement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Latency tracking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Retry &amp; fallback mechanism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Guardrails against unsafe SQL</a:t>
            </a:r>
            <a:br>
              <a:rPr lang="en-IN" sz="2400"/>
            </a:br>
            <a:r>
              <a:rPr lang="en-IN" sz="2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Schema validation enforcement</a:t>
            </a:r>
            <a:endParaRPr sz="2400"/>
          </a:p>
        </p:txBody>
      </p:sp>
      <p:sp>
        <p:nvSpPr>
          <p:cNvPr id="219" name="Google Shape;219;p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457200" y="91165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rgbClr val="00B09B"/>
                </a:solidFill>
                <a:latin typeface="Calibri"/>
                <a:ea typeface="Calibri"/>
                <a:cs typeface="Calibri"/>
                <a:sym typeface="Calibri"/>
              </a:rPr>
              <a:t>Streamlit UI – Home / Mode Selection</a:t>
            </a:r>
            <a:endParaRPr sz="3000">
              <a:solidFill>
                <a:srgbClr val="00B09B"/>
              </a:solidFill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5" y="1930275"/>
            <a:ext cx="7855152" cy="4418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914388" y="1003163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rgbClr val="00B09B"/>
                </a:solidFill>
                <a:latin typeface="Calibri"/>
                <a:ea typeface="Calibri"/>
                <a:cs typeface="Calibri"/>
                <a:sym typeface="Calibri"/>
              </a:rPr>
              <a:t>Summarization Mode Output</a:t>
            </a:r>
            <a:endParaRPr sz="3000">
              <a:solidFill>
                <a:srgbClr val="00B09B"/>
              </a:solidFill>
            </a:endParaRPr>
          </a:p>
        </p:txBody>
      </p:sp>
      <p:pic>
        <p:nvPicPr>
          <p:cNvPr id="244" name="Google Shape;24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50" y="1920225"/>
            <a:ext cx="7633274" cy="42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274325" y="154125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548650" y="683063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rgbClr val="00B09B"/>
                </a:solidFill>
                <a:latin typeface="Calibri"/>
                <a:ea typeface="Calibri"/>
                <a:cs typeface="Calibri"/>
                <a:sym typeface="Calibri"/>
              </a:rPr>
              <a:t>Conversational Q&amp;A Example</a:t>
            </a:r>
            <a:endParaRPr sz="3000">
              <a:solidFill>
                <a:srgbClr val="00B09B"/>
              </a:solidFill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914400" y="1780325"/>
            <a:ext cx="7683000" cy="47610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📸 Insert UI Screenshot Here</a:t>
            </a:r>
            <a:endParaRPr/>
          </a:p>
        </p:txBody>
      </p:sp>
      <p:pic>
        <p:nvPicPr>
          <p:cNvPr id="258" name="Google Shape;25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780325"/>
            <a:ext cx="7683001" cy="476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150" y="1920226"/>
            <a:ext cx="7966548" cy="4409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 txBox="1">
            <a:spLocks noGrp="1"/>
          </p:cNvSpPr>
          <p:nvPr>
            <p:ph type="title"/>
          </p:nvPr>
        </p:nvSpPr>
        <p:spPr>
          <a:xfrm>
            <a:off x="649850" y="61720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IN" sz="3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83" name="Google Shape;283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Char char="•"/>
            </a:pPr>
            <a:r>
              <a:rPr lang="en-IN" sz="2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GenAI-powered Retail Insights Assistant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000"/>
              <a:buChar char="–"/>
            </a:pPr>
            <a:r>
              <a:rPr lang="en-IN" sz="2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Supports summarization &amp; conversational BI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000"/>
              <a:buChar char="–"/>
            </a:pPr>
            <a:r>
              <a:rPr lang="en-IN" sz="2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Multi-agent architecture ensures reliability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1E1E1E"/>
              </a:buClr>
              <a:buSzPts val="2000"/>
              <a:buChar char="–"/>
            </a:pPr>
            <a:r>
              <a:rPr lang="en-IN" sz="2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Enterprise-ready &amp; scalable beyond 100GB</a:t>
            </a:r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0" y="64008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8046720" y="82296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rgbClr val="00B09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On-screen Show (4:3)</PresentationFormat>
  <Paragraphs>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Retail Insights Assistant</vt:lpstr>
      <vt:lpstr>Problem Statement</vt:lpstr>
      <vt:lpstr>Functional Scope</vt:lpstr>
      <vt:lpstr>Solution Overview</vt:lpstr>
      <vt:lpstr>Multi-Agent Architecture</vt:lpstr>
      <vt:lpstr>PowerPoint Presentation</vt:lpstr>
      <vt:lpstr>Summarization Mode</vt:lpstr>
      <vt:lpstr>Q&amp;A Mode</vt:lpstr>
      <vt:lpstr>100GB+ Scalability Architecture</vt:lpstr>
      <vt:lpstr>Model Orchestration at Scale</vt:lpstr>
      <vt:lpstr>Monitoring &amp; Evaluation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nair</cp:lastModifiedBy>
  <cp:revision>1</cp:revision>
  <dcterms:created xsi:type="dcterms:W3CDTF">2013-01-27T09:14:16Z</dcterms:created>
  <dcterms:modified xsi:type="dcterms:W3CDTF">2026-02-24T19:54:21Z</dcterms:modified>
</cp:coreProperties>
</file>